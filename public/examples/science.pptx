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Science &amp; Environment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Science &amp;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Science &amp;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Science &amp;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Science &amp;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Science &amp; Environment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1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640080"/>
            <a:ext cx="3108960" cy="3108960"/>
          </a:xfrm>
          <a:prstGeom prst="ellipse">
            <a:avLst/>
          </a:prstGeom>
          <a:ln w="25400">
            <a:solidFill>
              <a:srgbClr val="E9A9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097280"/>
            <a:ext cx="2194560" cy="2194560"/>
          </a:xfrm>
          <a:prstGeom prst="ellipse">
            <a:avLst/>
          </a:prstGeom>
          <a:ln w="25400">
            <a:solidFill>
              <a:srgbClr val="E9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98280" y="1508760"/>
            <a:ext cx="1371600" cy="1371600"/>
          </a:xfrm>
          <a:prstGeom prst="ellipse">
            <a:avLst/>
          </a:prstGeom>
          <a:ln w="25400">
            <a:solidFill>
              <a:srgbClr val="E9A9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2D6A4F">
              <a:alpha val="8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E9A9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Science &amp; Environment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9A9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Question. Test. Discover.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9A93C">
                    <a:alpha val="8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914400"/>
            <a:ext cx="3108960" cy="31089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457200"/>
            <a:ext cx="2194560" cy="21945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-45720"/>
            <a:ext cx="1371600" cy="137160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5.0290316816459665e+267" dist="1.6763438938819895e+267" dir="Infinity">
              <a:srgbClr val="1A1A1A">
                <a:alpha val="Infinity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6A4F">
                    <a:alpha val="3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6.386870235690377e+271" dist="2.1289567452301266e+271" dir="Infinity">
              <a:srgbClr val="1A1A1A">
                <a:alpha val="Infinity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6A4F">
                    <a:alpha val="3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8.111325199326779e+275" dist="2.7037750664422608e+275" dir="Infinity">
              <a:srgbClr val="1A1A1A">
                <a:alpha val="Infinity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6A4F">
                    <a:alpha val="3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19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1.0301383003145008e+280" dist="3.433794334381671e+279" dir="Infinity">
              <a:srgbClr val="1A1A1A">
                <a:alpha val="Infinity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6A4F">
                    <a:alpha val="3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1.308275641399416e+284" dist="4.360918804664722e+283" dir="Infinity">
              <a:srgbClr val="1A1A1A">
                <a:alpha val="Infinity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6A4F">
                    <a:alpha val="3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3000" dirty="0"/>
          </a:p>
        </p:txBody>
      </p:sp>
      <p:sp>
        <p:nvSpPr>
          <p:cNvPr id="36" name="Text 29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1.6615100645772585e+288" dist="5.538366881924197e+287" dir="Infinity">
              <a:srgbClr val="1A1A1A">
                <a:alpha val="Infinity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D6A4F">
                    <a:alpha val="3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3000" dirty="0"/>
          </a:p>
        </p:txBody>
      </p:sp>
      <p:sp>
        <p:nvSpPr>
          <p:cNvPr id="42" name="Text 34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43" name="Text 35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914400"/>
            <a:ext cx="3108960" cy="31089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457200"/>
            <a:ext cx="2194560" cy="21945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-45720"/>
            <a:ext cx="1371600" cy="137160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testable hypothesis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analyse data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evidence‑based findings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2.1101177820131183e+292" dist="7.033725940043731e+291" dir="Infinity">
              <a:srgbClr val="1A1A1A">
                <a:alpha val="Infinity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an investigation from question to data to conclusion — then present what the evidence shows.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914400"/>
            <a:ext cx="3108960" cy="31089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457200"/>
            <a:ext cx="2194560" cy="21945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-45720"/>
            <a:ext cx="1371600" cy="137160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rigorous method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clean field data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evidence‑based action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2.67984958315666e+296" dist="8.932831943855538e+295" dir="Infinity">
              <a:srgbClr val="1A1A1A">
                <a:alpha val="Infinity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Design a field study or sustainability project for a real site near you.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914400"/>
            <a:ext cx="3108960" cy="31089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457200"/>
            <a:ext cx="2194560" cy="21945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-45720"/>
            <a:ext cx="1371600" cy="137160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real lab and field method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live research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science and enviro paths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3.4034089706089584e+300" dist="1.1344696568696533e+300" dir="Infinity">
              <a:srgbClr val="1A1A1A">
                <a:alpha val="Infinity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days a week in a lab, park, farm or environmental organisation.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914400"/>
            <a:ext cx="3108960" cy="31089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457200"/>
            <a:ext cx="2194560" cy="21945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-45720"/>
            <a:ext cx="1371600" cy="137160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Original, sustained inquiry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and communicate results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E9A9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an academic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4EFE8"/>
          </a:solidFill>
          <a:ln/>
          <a:effectLst>
            <a:outerShdw sx="100000" sy="100000" kx="0" ky="0" algn="bl" rotWithShape="0" blurRad="4.322329392673377e+304" dist="1.4407764642244596e+304" dir="Infinity">
              <a:srgbClr val="1A1A1A">
                <a:alpha val="Infinity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capstone research project mentored by a university academic or a working scientist.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914400"/>
            <a:ext cx="3108960" cy="31089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457200"/>
            <a:ext cx="2194560" cy="219456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-45720"/>
            <a:ext cx="1371600" cy="1371600"/>
          </a:xfrm>
          <a:prstGeom prst="ellipse">
            <a:avLst/>
          </a:prstGeom>
          <a:ln w="15875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3E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F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1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640080"/>
            <a:ext cx="3108960" cy="3108960"/>
          </a:xfrm>
          <a:prstGeom prst="ellipse">
            <a:avLst/>
          </a:prstGeom>
          <a:ln w="25400">
            <a:solidFill>
              <a:srgbClr val="E9A9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097280"/>
            <a:ext cx="2194560" cy="2194560"/>
          </a:xfrm>
          <a:prstGeom prst="ellipse">
            <a:avLst/>
          </a:prstGeom>
          <a:ln w="25400">
            <a:solidFill>
              <a:srgbClr val="E9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98280" y="1508760"/>
            <a:ext cx="1371600" cy="1371600"/>
          </a:xfrm>
          <a:prstGeom prst="ellipse">
            <a:avLst/>
          </a:prstGeom>
          <a:ln w="25400">
            <a:solidFill>
              <a:srgbClr val="E9A9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2D6A4F">
              <a:alpha val="9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&amp; ENVIRONMENT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Follow the evidence.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data to conclusion — real inquiry that leads into science and environment careers.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A9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A9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days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A9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17+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&amp; Environment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