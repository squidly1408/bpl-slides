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the Sport &amp; Recreation Big Picture learning-journey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six-stage Big Picture journey.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Regular Project — Sport &amp; Recreation.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Gateway Project — Sport &amp; Recreation.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Through Internship — Sport &amp; Recreation.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Senior Project — Sport &amp; Recreation.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IBPLC credential and the six Learning Goals it assesses.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for the Sport &amp; Recreation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51C"/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457200"/>
            <a:ext cx="3566160" cy="3566160"/>
          </a:xfrm>
          <a:prstGeom prst="ellipse">
            <a:avLst/>
          </a:prstGeom>
          <a:solidFill>
            <a:srgbClr val="1FA2A6">
              <a:alpha val="7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2651760"/>
            <a:ext cx="1371600" cy="1371600"/>
          </a:xfrm>
          <a:prstGeom prst="ellipse">
            <a:avLst/>
          </a:prstGeom>
          <a:solidFill>
            <a:srgbClr val="9BCF1F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458200" y="3291840"/>
            <a:ext cx="2377440" cy="2377440"/>
          </a:xfrm>
          <a:prstGeom prst="ellipse">
            <a:avLst/>
          </a:prstGeom>
          <a:solidFill>
            <a:srgbClr val="1FA2A6">
              <a:alpha val="88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8786" y="3862426"/>
            <a:ext cx="1236269" cy="123626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3063240"/>
            <a:ext cx="2834640" cy="2834640"/>
          </a:xfrm>
          <a:prstGeom prst="ellipse">
            <a:avLst/>
          </a:prstGeom>
          <a:ln w="19050">
            <a:solidFill>
              <a:srgbClr val="9BCF1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234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BC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  ·  LEARNING JOURNEY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03504" y="169164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 &amp; Recreation</a:t>
            </a:r>
            <a:endParaRPr lang="en-US" sz="4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7947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9BC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Train. Compete. Lead.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457200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pathway through Big Picture Learning — projects, internships and the IBPLC.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5504688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BCF1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“One student at a time, in a community of learners.”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 Education Australia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274320"/>
            <a:ext cx="914400" cy="914400"/>
          </a:xfrm>
          <a:prstGeom prst="ellipse">
            <a:avLst/>
          </a:prstGeom>
          <a:solidFill>
            <a:srgbClr val="1FA2A6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Big Picture journey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15214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stay with one advisory — a small group and a personal advisor — from Year 9 to 12, moving through six connected stages built around your interests and the 6 Learning Goals.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3F1F0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1540" y="2189988"/>
            <a:ext cx="868680" cy="86868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2407158"/>
            <a:ext cx="434340" cy="4343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951378" y="21305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FA2A6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08152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Plan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44728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your interests and the 6 Learning Goals.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68698" y="187452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3F1F0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11598" y="2189988"/>
            <a:ext cx="868680" cy="86868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8" y="2407158"/>
            <a:ext cx="434340" cy="4343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771437" y="21305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FA2A6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4643018" y="308152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Projects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4643018" y="344728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real interest into hands-on, exhibited work.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88757" y="187452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3F1F0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531657" y="2189988"/>
            <a:ext cx="868680" cy="86868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8827" y="2407158"/>
            <a:ext cx="434340" cy="43434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0591495" y="21305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FA2A6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Text 17"/>
          <p:cNvSpPr txBox="1"/>
          <p:nvPr/>
        </p:nvSpPr>
        <p:spPr>
          <a:xfrm>
            <a:off x="8463077" y="308152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Project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8463077" y="344728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deeper project that bridges you into the senior years.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48640" y="425196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3F1F0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91540" y="4567428"/>
            <a:ext cx="868680" cy="86868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" y="4784598"/>
            <a:ext cx="434340" cy="43434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2951378" y="45079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FA2A6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28" name="Text 22"/>
          <p:cNvSpPr txBox="1"/>
          <p:nvPr/>
        </p:nvSpPr>
        <p:spPr>
          <a:xfrm>
            <a:off x="822960" y="545896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Internships (LTI)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822960" y="582472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days a week learning with an expert mentor.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368698" y="425196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3F1F0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711598" y="4567428"/>
            <a:ext cx="868680" cy="86868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768" y="4784598"/>
            <a:ext cx="434340" cy="43434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6771437" y="45079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FA2A6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34" name="Text 27"/>
          <p:cNvSpPr txBox="1"/>
          <p:nvPr/>
        </p:nvSpPr>
        <p:spPr>
          <a:xfrm>
            <a:off x="4643018" y="545896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Project</a:t>
            </a:r>
            <a:endParaRPr lang="en-US" sz="1700" dirty="0"/>
          </a:p>
        </p:txBody>
      </p:sp>
      <p:sp>
        <p:nvSpPr>
          <p:cNvPr id="35" name="Text 28"/>
          <p:cNvSpPr txBox="1"/>
          <p:nvPr/>
        </p:nvSpPr>
        <p:spPr>
          <a:xfrm>
            <a:off x="4643018" y="582472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Sustained, original capstone work in your field.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8188757" y="425196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3F1F0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531657" y="4567428"/>
            <a:ext cx="868680" cy="86868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8827" y="4784598"/>
            <a:ext cx="434340" cy="43434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0591495" y="45079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FA2A6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000" dirty="0"/>
          </a:p>
        </p:txBody>
      </p:sp>
      <p:sp>
        <p:nvSpPr>
          <p:cNvPr id="40" name="Text 32"/>
          <p:cNvSpPr txBox="1"/>
          <p:nvPr/>
        </p:nvSpPr>
        <p:spPr>
          <a:xfrm>
            <a:off x="8463077" y="545896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IBPLC</a:t>
            </a:r>
            <a:endParaRPr lang="en-US" sz="1700" dirty="0"/>
          </a:p>
        </p:txBody>
      </p:sp>
      <p:sp>
        <p:nvSpPr>
          <p:cNvPr id="41" name="Text 33"/>
          <p:cNvSpPr txBox="1"/>
          <p:nvPr/>
        </p:nvSpPr>
        <p:spPr>
          <a:xfrm>
            <a:off x="8463077" y="582472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Year 12 credential and Learner Profile.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274320"/>
            <a:ext cx="914400" cy="914400"/>
          </a:xfrm>
          <a:prstGeom prst="ellipse">
            <a:avLst/>
          </a:prstGeom>
          <a:solidFill>
            <a:srgbClr val="1FA2A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38912"/>
            <a:ext cx="914400" cy="91440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67512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A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02 · REGULAR PROJECT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Regular Project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Student-designed projects that turn a personal interest into real, hands-on work — planned, made and then exhibited to a genuine audience each term.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A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3758184"/>
            <a:ext cx="146304" cy="146304"/>
          </a:xfrm>
          <a:prstGeom prst="ellipse">
            <a:avLst/>
          </a:prstGeom>
          <a:solidFill>
            <a:srgbClr val="9BCF1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5953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sessions with real goals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66928" y="4325112"/>
            <a:ext cx="146304" cy="146304"/>
          </a:xfrm>
          <a:prstGeom prst="ellipse">
            <a:avLst/>
          </a:prstGeom>
          <a:solidFill>
            <a:srgbClr val="9BCF1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953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and lead participants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66928" y="4892040"/>
            <a:ext cx="146304" cy="146304"/>
          </a:xfrm>
          <a:prstGeom prst="ellipse">
            <a:avLst/>
          </a:prstGeom>
          <a:solidFill>
            <a:srgbClr val="9BCF1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5953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progress and reflect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7345375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E3F1F0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579815" y="1737360"/>
            <a:ext cx="1828800" cy="182880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015" y="2194560"/>
            <a:ext cx="914400" cy="9144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711135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1FA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SPORT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7729423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10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and lead a training program or event — then measure the results.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274320"/>
            <a:ext cx="914400" cy="914400"/>
          </a:xfrm>
          <a:prstGeom prst="ellipse">
            <a:avLst/>
          </a:prstGeom>
          <a:solidFill>
            <a:srgbClr val="1FA2A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438912"/>
            <a:ext cx="914400" cy="91440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667512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9224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A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03 · GATEWAY PROJECT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Gateway Project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39496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deeper, more independent project that bridges the junior and senior years. It stretches your skills, connects to a future pathway and gets you ready for senior work.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A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13248" y="3758184"/>
            <a:ext cx="146304" cy="146304"/>
          </a:xfrm>
          <a:prstGeom prst="ellipse">
            <a:avLst/>
          </a:prstGeom>
          <a:solidFill>
            <a:srgbClr val="9BCF1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70585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 inclusive program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413248" y="4325112"/>
            <a:ext cx="146304" cy="146304"/>
          </a:xfrm>
          <a:prstGeom prst="ellipse">
            <a:avLst/>
          </a:prstGeom>
          <a:solidFill>
            <a:srgbClr val="9BCF1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70585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safety and logistics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413248" y="4892040"/>
            <a:ext cx="146304" cy="146304"/>
          </a:xfrm>
          <a:prstGeom prst="ellipse">
            <a:avLst/>
          </a:prstGeom>
          <a:solidFill>
            <a:srgbClr val="9BCF1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70585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impact and reach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48640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E3F1F0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783080" y="1737360"/>
            <a:ext cx="1828800" cy="182880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2194560"/>
            <a:ext cx="914400" cy="9144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14400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1FA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SPORT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932688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10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community sport or recreation program and evaluate the participation.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274320"/>
            <a:ext cx="914400" cy="914400"/>
          </a:xfrm>
          <a:prstGeom prst="ellipse">
            <a:avLst/>
          </a:prstGeom>
          <a:solidFill>
            <a:srgbClr val="1FA2A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38912"/>
            <a:ext cx="914400" cy="91440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67512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A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04 · INTERNSHIP (LTI)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Through Internship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days a week you learn in a real workplace beside an expert mentor, working on authentic projects that connect straight back to your learning goals.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A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3758184"/>
            <a:ext cx="146304" cy="146304"/>
          </a:xfrm>
          <a:prstGeom prst="ellipse">
            <a:avLst/>
          </a:prstGeom>
          <a:solidFill>
            <a:srgbClr val="9BCF1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5953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Coach, train or run events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66928" y="4325112"/>
            <a:ext cx="146304" cy="146304"/>
          </a:xfrm>
          <a:prstGeom prst="ellipse">
            <a:avLst/>
          </a:prstGeom>
          <a:solidFill>
            <a:srgbClr val="9BCF1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953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leadership on the ground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66928" y="4892040"/>
            <a:ext cx="146304" cy="146304"/>
          </a:xfrm>
          <a:prstGeom prst="ellipse">
            <a:avLst/>
          </a:prstGeom>
          <a:solidFill>
            <a:srgbClr val="9BCF1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5953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sport and coaching paths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7345375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E3F1F0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579815" y="1737360"/>
            <a:ext cx="1828800" cy="182880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015" y="2194560"/>
            <a:ext cx="914400" cy="9144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711135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1FA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SPORT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7729423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10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days a week with a club, gym, coach or recreation organisation.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274320"/>
            <a:ext cx="914400" cy="914400"/>
          </a:xfrm>
          <a:prstGeom prst="ellipse">
            <a:avLst/>
          </a:prstGeom>
          <a:solidFill>
            <a:srgbClr val="1FA2A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438912"/>
            <a:ext cx="914400" cy="91440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667512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9224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A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05 · SENIOR PROJECT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Senior Project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39496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Sustained, in-depth and original work in the senior years — often guided by a university academic or an expert from an industry, trade or art.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A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13248" y="3758184"/>
            <a:ext cx="146304" cy="146304"/>
          </a:xfrm>
          <a:prstGeom prst="ellipse">
            <a:avLst/>
          </a:prstGeom>
          <a:solidFill>
            <a:srgbClr val="9BCF1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70585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sustained real‑world project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413248" y="4325112"/>
            <a:ext cx="146304" cy="146304"/>
          </a:xfrm>
          <a:prstGeom prst="ellipse">
            <a:avLst/>
          </a:prstGeom>
          <a:solidFill>
            <a:srgbClr val="9BCF1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70585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sport science and data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413248" y="4892040"/>
            <a:ext cx="146304" cy="146304"/>
          </a:xfrm>
          <a:prstGeom prst="ellipse">
            <a:avLst/>
          </a:prstGeom>
          <a:solidFill>
            <a:srgbClr val="9BCF1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70585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Mentored by a coach or manager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48640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E3F1F0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783080" y="1737360"/>
            <a:ext cx="1828800" cy="182880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2194560"/>
            <a:ext cx="914400" cy="9144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14400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1FA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SPORT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932688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10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capstone coaching, events or performance project mentored by an industry pro.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274320"/>
            <a:ext cx="914400" cy="914400"/>
          </a:xfrm>
          <a:prstGeom prst="ellipse">
            <a:avLst/>
          </a:prstGeom>
          <a:solidFill>
            <a:srgbClr val="1FA2A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38912"/>
            <a:ext cx="914400" cy="91440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67512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A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12 CREDENTIAL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627632" y="85953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IBPLC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73736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International Big Picture Learning Credential is a rigorous, non‑ATAR pathway from school to work, training or university — recognised by 17+ Australian universities and warranted by the University of Melbourne.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578608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 is captured as a progression level on each of the 6 Learning Goals, plus a curated digital portfolio, a teacher narrative and a short student video profile.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25526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A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AGAINST THE 6 LEARNING GOALS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63931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3F1F0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45820" y="3890772"/>
            <a:ext cx="868680" cy="86868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107942"/>
            <a:ext cx="434340" cy="4343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874520" y="387705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0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874520" y="435254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ideas clearly, in many forms and to many audiences.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353458" y="363931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3F1F0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50638" y="3890772"/>
            <a:ext cx="868680" cy="86868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808" y="4107942"/>
            <a:ext cx="434340" cy="4343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679338" y="387705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0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Reasoning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679338" y="435254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observation, evidence and experiment to explain things.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8158277" y="363931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3F1F0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455457" y="3890772"/>
            <a:ext cx="868680" cy="86868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2627" y="4107942"/>
            <a:ext cx="434340" cy="4343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484157" y="387705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0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Reasoning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9484157" y="435254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confidently with numbers, measurement and data.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548640" y="528523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3F1F0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45820" y="5536692"/>
            <a:ext cx="868680" cy="86868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990" y="5753862"/>
            <a:ext cx="434340" cy="43434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874520" y="552297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0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Reasoning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1874520" y="599846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people, perspectives, cultures and systems.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4353458" y="528523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3F1F0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650638" y="5536692"/>
            <a:ext cx="868680" cy="86868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7808" y="5753862"/>
            <a:ext cx="434340" cy="43434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5679338" y="552297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0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Qualities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5679338" y="599846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Persistence, integrity, organisation and self-awareness.</a:t>
            </a:r>
            <a:endParaRPr lang="en-US" sz="1150" dirty="0"/>
          </a:p>
        </p:txBody>
      </p:sp>
      <p:sp>
        <p:nvSpPr>
          <p:cNvPr id="36" name="Shape 28"/>
          <p:cNvSpPr/>
          <p:nvPr/>
        </p:nvSpPr>
        <p:spPr>
          <a:xfrm>
            <a:off x="8158277" y="528523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3F1F0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455457" y="5536692"/>
            <a:ext cx="868680" cy="868680"/>
          </a:xfrm>
          <a:prstGeom prst="ellipse">
            <a:avLst/>
          </a:prstGeom>
          <a:solidFill>
            <a:srgbClr val="1FA2A6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2627" y="5753862"/>
            <a:ext cx="434340" cy="43434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9484157" y="552297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0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How to Learn</a:t>
            </a:r>
            <a:endParaRPr lang="en-US" sz="1500" dirty="0"/>
          </a:p>
        </p:txBody>
      </p:sp>
      <p:sp>
        <p:nvSpPr>
          <p:cNvPr id="40" name="Text 31"/>
          <p:cNvSpPr txBox="1"/>
          <p:nvPr/>
        </p:nvSpPr>
        <p:spPr>
          <a:xfrm>
            <a:off x="9484157" y="599846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reflect on and take charge of your own learning.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51C"/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457200"/>
            <a:ext cx="3566160" cy="3566160"/>
          </a:xfrm>
          <a:prstGeom prst="ellipse">
            <a:avLst/>
          </a:prstGeom>
          <a:solidFill>
            <a:srgbClr val="1FA2A6">
              <a:alpha val="7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2651760"/>
            <a:ext cx="1371600" cy="1371600"/>
          </a:xfrm>
          <a:prstGeom prst="ellipse">
            <a:avLst/>
          </a:prstGeom>
          <a:solidFill>
            <a:srgbClr val="9BCF1F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01200" y="4114800"/>
            <a:ext cx="1554480" cy="1554480"/>
          </a:xfrm>
          <a:prstGeom prst="ellipse">
            <a:avLst/>
          </a:prstGeom>
          <a:solidFill>
            <a:srgbClr val="1FA2A6">
              <a:alpha val="9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4275" y="4487875"/>
            <a:ext cx="808330" cy="8083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C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&amp; RECREATION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03504" y="1508760"/>
            <a:ext cx="8595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from the front.</a:t>
            </a:r>
            <a:endParaRPr lang="en-US" sz="4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20040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Coach, train and run events for real — the pathway into sport, coaching and recreation.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470916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14400" y="48646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BC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5413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611880" y="470916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886200" y="48646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BC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days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3886200" y="5413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 on internship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583680" y="470916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58000" y="48646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BC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17+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0" y="5413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accept it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6309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 Education Australia  ·  Learn through your interests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 &amp; Recreation — Big Picture Learning Journey</dc:title>
  <dc:subject>PptxGenJS Presentation</dc:subject>
  <dc:creator>Big Picture Education</dc:creator>
  <cp:lastModifiedBy>Big Picture Education</cp:lastModifiedBy>
  <cp:revision>1</cp:revision>
  <dcterms:created xsi:type="dcterms:W3CDTF">2026-09-02T08:36:22Z</dcterms:created>
  <dcterms:modified xsi:type="dcterms:W3CDTF">2026-09-02T08:36:22Z</dcterms:modified>
</cp:coreProperties>
</file>