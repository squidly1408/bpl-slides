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for the Trades &amp; Construction Big Picture learning-journey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six-stage Big Picture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Regular Project — Trades &amp;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Project — Trades &amp;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Through Internship — Trades &amp;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Senior Project — Trades &amp;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IBPLC credential and the six Learning Goals it assesses.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the Trades &amp; Construction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017520"/>
            <a:ext cx="3968496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3017520"/>
            <a:ext cx="10973" cy="3968496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3584448"/>
            <a:ext cx="3968496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430768" y="3017520"/>
            <a:ext cx="10973" cy="3968496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4151376"/>
            <a:ext cx="3968496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997696" y="3017520"/>
            <a:ext cx="10973" cy="3968496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863840" y="4718304"/>
            <a:ext cx="3968496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564624" y="3017520"/>
            <a:ext cx="10973" cy="3968496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863840" y="5285232"/>
            <a:ext cx="3968496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31552" y="3017520"/>
            <a:ext cx="10973" cy="3968496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863840" y="5852160"/>
            <a:ext cx="3968496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3017520"/>
            <a:ext cx="10973" cy="3968496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6419088"/>
            <a:ext cx="3968496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265408" y="3017520"/>
            <a:ext cx="10973" cy="3968496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863840" y="6986016"/>
            <a:ext cx="3968496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832336" y="3017520"/>
            <a:ext cx="10973" cy="3968496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458200" y="3291840"/>
            <a:ext cx="2377440" cy="2377440"/>
          </a:xfrm>
          <a:prstGeom prst="ellipse">
            <a:avLst/>
          </a:prstGeom>
          <a:solidFill>
            <a:srgbClr val="1F2933">
              <a:alpha val="88000"/>
            </a:srgbClr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8786" y="3862426"/>
            <a:ext cx="1236269" cy="123626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229600" y="3063240"/>
            <a:ext cx="2834640" cy="2834640"/>
          </a:xfrm>
          <a:prstGeom prst="ellipse">
            <a:avLst/>
          </a:prstGeom>
          <a:ln w="19050">
            <a:solidFill>
              <a:srgbClr val="F2A9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1234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 ·  LEARNING JOURNEY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" y="1691640"/>
            <a:ext cx="7498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 &amp; Construction</a:t>
            </a:r>
            <a:endParaRPr lang="en-US" sz="46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794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 for real.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45720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pathway through Big Picture Learning — projects, internships and the IBPLC.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50468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2A900">
                    <a:alpha val="8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student at a time, in a community of learners.”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0040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886968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25328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453896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92256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2020824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59184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0" y="2587752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26112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5029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Big Picture journey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1152144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with one advisory — a small group and a personal advisor — from Year 9 to 12, moving through six connected stages built around your interests and the 6 Learning Goals.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114300" dist="38100" dir="5400000">
              <a:srgbClr val="1A1A1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1540" y="2189988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407158"/>
            <a:ext cx="434340" cy="43434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2951378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2933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Plan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interests and the 6 Learning Goals.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368698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1451610000" dist="483870000" dir="324000000000">
              <a:srgbClr val="1A1A1A">
                <a:alpha val="160000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11598" y="2189988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8" y="2407158"/>
            <a:ext cx="434340" cy="4343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771437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2933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25" name="Text 21"/>
          <p:cNvSpPr txBox="1"/>
          <p:nvPr/>
        </p:nvSpPr>
        <p:spPr>
          <a:xfrm>
            <a:off x="4643018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Projects</a:t>
            </a:r>
            <a:endParaRPr lang="en-US" sz="1700" dirty="0"/>
          </a:p>
        </p:txBody>
      </p:sp>
      <p:sp>
        <p:nvSpPr>
          <p:cNvPr id="26" name="Text 22"/>
          <p:cNvSpPr txBox="1"/>
          <p:nvPr/>
        </p:nvSpPr>
        <p:spPr>
          <a:xfrm>
            <a:off x="4643018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real interest into hands-on, exhibited work.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8188757" y="187452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18435447000000" dist="6145149000000" dir="19440000000000000">
              <a:srgbClr val="1A1A1A">
                <a:alpha val="16000000000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531657" y="2189988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8827" y="2407158"/>
            <a:ext cx="434340" cy="43434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591495" y="21305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2933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31" name="Text 26"/>
          <p:cNvSpPr txBox="1"/>
          <p:nvPr/>
        </p:nvSpPr>
        <p:spPr>
          <a:xfrm>
            <a:off x="8463077" y="308152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Project</a:t>
            </a:r>
            <a:endParaRPr lang="en-US" sz="1700" dirty="0"/>
          </a:p>
        </p:txBody>
      </p:sp>
      <p:sp>
        <p:nvSpPr>
          <p:cNvPr id="32" name="Text 27"/>
          <p:cNvSpPr txBox="1"/>
          <p:nvPr/>
        </p:nvSpPr>
        <p:spPr>
          <a:xfrm>
            <a:off x="8463077" y="344728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project that bridges you into the senior years.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234130176900000000" dist="78043392300000000" dir="1.1664e+21">
              <a:srgbClr val="1A1A1A">
                <a:alpha val="1600000000000000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91540" y="4567428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710" y="4784598"/>
            <a:ext cx="434340" cy="43434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2951378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2933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37" name="Text 31"/>
          <p:cNvSpPr txBox="1"/>
          <p:nvPr/>
        </p:nvSpPr>
        <p:spPr>
          <a:xfrm>
            <a:off x="822960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Internships (LTI)</a:t>
            </a:r>
            <a:endParaRPr lang="en-US" sz="1700" dirty="0"/>
          </a:p>
        </p:txBody>
      </p:sp>
      <p:sp>
        <p:nvSpPr>
          <p:cNvPr id="38" name="Text 32"/>
          <p:cNvSpPr txBox="1"/>
          <p:nvPr/>
        </p:nvSpPr>
        <p:spPr>
          <a:xfrm>
            <a:off x="822960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learning with an expert mentor.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4368698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2.97345324663e+21" dist="991151082210000000000" dir="6.9984e+25">
              <a:srgbClr val="1A1A1A">
                <a:alpha val="1.6e+24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711598" y="4567428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768" y="4784598"/>
            <a:ext cx="434340" cy="43434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6771437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2933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43" name="Text 36"/>
          <p:cNvSpPr txBox="1"/>
          <p:nvPr/>
        </p:nvSpPr>
        <p:spPr>
          <a:xfrm>
            <a:off x="4643018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Project</a:t>
            </a:r>
            <a:endParaRPr lang="en-US" sz="1700" dirty="0"/>
          </a:p>
        </p:txBody>
      </p:sp>
      <p:sp>
        <p:nvSpPr>
          <p:cNvPr id="44" name="Text 37"/>
          <p:cNvSpPr txBox="1"/>
          <p:nvPr/>
        </p:nvSpPr>
        <p:spPr>
          <a:xfrm>
            <a:off x="4643018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original capstone work in your field.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8188757" y="4251960"/>
            <a:ext cx="3454298" cy="2011680"/>
          </a:xfrm>
          <a:prstGeom prst="roundRect">
            <a:avLst>
              <a:gd name="adj" fmla="val 636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3.7762856232201e+25" dist="1.2587618744067e+25" dir="4.19904e+30">
              <a:srgbClr val="1A1A1A">
                <a:alpha val="1.6e+29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531657" y="4567428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8827" y="4784598"/>
            <a:ext cx="434340" cy="434340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10591495" y="4507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F2933">
                    <a:alpha val="3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49" name="Text 41"/>
          <p:cNvSpPr txBox="1"/>
          <p:nvPr/>
        </p:nvSpPr>
        <p:spPr>
          <a:xfrm>
            <a:off x="8463077" y="5458968"/>
            <a:ext cx="2905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1700" dirty="0"/>
          </a:p>
        </p:txBody>
      </p:sp>
      <p:sp>
        <p:nvSpPr>
          <p:cNvPr id="50" name="Text 42"/>
          <p:cNvSpPr txBox="1"/>
          <p:nvPr/>
        </p:nvSpPr>
        <p:spPr>
          <a:xfrm>
            <a:off x="8463077" y="5824728"/>
            <a:ext cx="29056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Year 12 credential and Learner Profile.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0040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886968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25328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453896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92256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2020824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59184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0" y="2587752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26112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REGULAR PROJECT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Regular Project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projects that turn a personal interest into real, hands-on work — planned, made and then exhibited to a genuine audience each term.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plans and measure to tolerance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materials and reduce waste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the finished build and reflection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4.795882741489527e+29" dist="1.598627580496509e+29" dir="2.519424e+35">
              <a:srgbClr val="1A1A1A">
                <a:alpha val="1.6e+34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TRADES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and build a flat‑pack planter box — produce a cut list, cost the timber and manage your waste.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0040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886968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25328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453896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92256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2020824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59184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0" y="2587752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26112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GATEWAY PROJECT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Project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deeper, more independent project that bridges the junior and senior years. It stretches your skills, connects to a future pathway and gets you ready for senior work.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labour and materials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WHS and site safety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 realistic build schedule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6.090771081691699e+33" dist="2.0302570272305663e+33" dir="1.5116544e+40">
              <a:srgbClr val="1A1A1A">
                <a:alpha val="1.6e+39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TRADES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Re‑imagine a community space: scope the job, sequence the trades and present a buildable site plan.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0040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886968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25328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453896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92256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2020824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59184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0" y="2587752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26112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4592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INTERNSHIP (LTI)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Through Internship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days a week you learn in a real workplace beside an expert mentor, working on authentic projects that connect straight back to your learning goals.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37581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5953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 licensed mentor on site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66928" y="4325112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5953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hand skills and site literacy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66928" y="489204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5953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pathway toward apprenticeship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7345375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7.735279273748459e+37" dist="2.578426424582819e+37" dir="9.069926400000001e+44">
              <a:srgbClr val="1A1A1A">
                <a:alpha val="1.6e+44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579815" y="1737360"/>
            <a:ext cx="1828800" cy="18288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015" y="2194560"/>
            <a:ext cx="914400" cy="9144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711135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TRADES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7729423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days a week on site with a builder, carpenter or electrician — real tools, real jobs.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0040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886968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25328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453896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92256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2020824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59184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0" y="2587752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26112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94960" y="438912"/>
            <a:ext cx="914400" cy="9144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6751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492240" y="603504"/>
            <a:ext cx="51508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 · SENIOR PROJECT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896112"/>
            <a:ext cx="5150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Senior Project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920240"/>
            <a:ext cx="62480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in-depth and original work in the senior years — often guided by a university academic or an expert from an industry, trade or art.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394960" y="3246120"/>
            <a:ext cx="6248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13248" y="3758184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705856" y="3648456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 code and standard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13248" y="4325112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705856" y="4215384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full build journal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5413248" y="4892040"/>
            <a:ext cx="146304" cy="146304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705856" y="4782312"/>
            <a:ext cx="5937199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Mentored by a licensed trade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48640" y="1417320"/>
            <a:ext cx="4297680" cy="4709160"/>
          </a:xfrm>
          <a:prstGeom prst="roundRect">
            <a:avLst>
              <a:gd name="adj" fmla="val 3404"/>
            </a:avLst>
          </a:prstGeom>
          <a:solidFill>
            <a:srgbClr val="F0EDE7"/>
          </a:solidFill>
          <a:ln/>
          <a:effectLst>
            <a:outerShdw sx="100000" sy="100000" kx="0" ky="0" algn="bl" rotWithShape="0" blurRad="9.823804677660543e+41" dist="3.2746015592201804e+41" dir="5.44195584e+49">
              <a:srgbClr val="1A1A1A">
                <a:alpha val="1.6e+49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783080" y="1737360"/>
            <a:ext cx="1828800" cy="18288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2194560"/>
            <a:ext cx="914400" cy="91440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914400" y="3840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TRADES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932688" y="4206240"/>
            <a:ext cx="35295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capstone build guided by a licensed tradesperson — a tiny‑home frame or a sustainable deck.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3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0040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886968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25328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453896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92256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0" y="2020824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759184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0" y="2587752"/>
            <a:ext cx="2267712" cy="10973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326112" y="320040"/>
            <a:ext cx="10973" cy="2267712"/>
          </a:xfrm>
          <a:prstGeom prst="rect">
            <a:avLst/>
          </a:prstGeom>
          <a:solidFill>
            <a:srgbClr val="1F2933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38912"/>
            <a:ext cx="914400" cy="91440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6751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645920" y="566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12 CREDENTIAL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627632" y="8595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IBPLC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173736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Big Picture Learning Credential is a rigorous, non‑ATAR pathway from school to work, training or university — recognised by 17+ Australian universities and warranted by the University of Melbourne.</a:t>
            </a:r>
            <a:endParaRPr lang="en-US" sz="15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2578608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 is captured as a progression level on each of the 6 Learning Goals, plus a curated digital portfolio, a teacher narrative and a short student video profile.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325526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 THE 6 LEARNING GOALS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0EDE7"/>
          </a:solidFill>
          <a:ln/>
          <a:effectLst>
            <a:outerShdw sx="100000" sy="100000" kx="0" ky="0" algn="bl" rotWithShape="0" blurRad="1.247623194062889e+46" dist="4.158743980209629e+45" dir="3.2651735040000005e+54">
              <a:srgbClr val="1A1A1A">
                <a:alpha val="1.6e+54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5820" y="3890772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4107942"/>
            <a:ext cx="434340" cy="43434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874520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1874520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ideas clearly, in many forms and to many audiences.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353458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0EDE7"/>
          </a:solidFill>
          <a:ln/>
          <a:effectLst>
            <a:outerShdw sx="100000" sy="100000" kx="0" ky="0" algn="bl" rotWithShape="0" blurRad="1.5844814564598688e+50" dist="5.281604854866228e+49" dir="1.9591041024000004e+59">
              <a:srgbClr val="1A1A1A">
                <a:alpha val="1.6e+59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650638" y="3890772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08" y="4107942"/>
            <a:ext cx="434340" cy="43434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679338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Reasoning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5679338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observation, evidence and experiment to explain things.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8158277" y="363931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0EDE7"/>
          </a:solidFill>
          <a:ln/>
          <a:effectLst>
            <a:outerShdw sx="100000" sy="100000" kx="0" ky="0" algn="bl" rotWithShape="0" blurRad="2.0122914497040333e+54" dist="6.70763816568011e+53" dir="1.1754624614400003e+64">
              <a:srgbClr val="1A1A1A">
                <a:alpha val="1.5999999999999998e+64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455457" y="3890772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2627" y="4107942"/>
            <a:ext cx="434340" cy="43434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484157" y="387705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 Reasoning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9484157" y="435254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confidently with numbers, measurement and data.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48640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0EDE7"/>
          </a:solidFill>
          <a:ln/>
          <a:effectLst>
            <a:outerShdw sx="100000" sy="100000" kx="0" ky="0" algn="bl" rotWithShape="0" blurRad="2.5556101411241224e+58" dist="8.518700470413739e+57" dir="7.052774768640002e+68">
              <a:srgbClr val="1A1A1A">
                <a:alpha val="1.5999999999999997e+69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45820" y="5536692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5753862"/>
            <a:ext cx="434340" cy="43434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874520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Reasoning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1874520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people, perspectives, cultures and systems.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4353458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0EDE7"/>
          </a:solidFill>
          <a:ln/>
          <a:effectLst>
            <a:outerShdw sx="100000" sy="100000" kx="0" ky="0" algn="bl" rotWithShape="0" blurRad="3.2456248792276356e+62" dist="1.081874959742545e+62" dir="4.2316648611840007e+73">
              <a:srgbClr val="1A1A1A">
                <a:alpha val="1.5999999999999997e+74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650638" y="5536692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808" y="5753862"/>
            <a:ext cx="434340" cy="43434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5679338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Qualities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5679338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Persistence, integrity, organisation and self-awareness.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8158277" y="5285232"/>
            <a:ext cx="3484778" cy="1371600"/>
          </a:xfrm>
          <a:prstGeom prst="roundRect">
            <a:avLst>
              <a:gd name="adj" fmla="val 8000"/>
            </a:avLst>
          </a:prstGeom>
          <a:solidFill>
            <a:srgbClr val="F0EDE7"/>
          </a:solidFill>
          <a:ln/>
          <a:effectLst>
            <a:outerShdw sx="100000" sy="100000" kx="0" ky="0" algn="bl" rotWithShape="0" blurRad="4.121943596619097e+66" dist="1.373981198873032e+66" dir="2.5389989167104004e+78">
              <a:srgbClr val="1A1A1A">
                <a:alpha val="1.5999999999999997e+79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8455457" y="5536692"/>
            <a:ext cx="868680" cy="868680"/>
          </a:xfrm>
          <a:prstGeom prst="ellipse">
            <a:avLst/>
          </a:prstGeom>
          <a:solidFill>
            <a:srgbClr val="1F2933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2627" y="5753862"/>
            <a:ext cx="434340" cy="434340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9484157" y="5522976"/>
            <a:ext cx="197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How to Learn</a:t>
            </a:r>
            <a:endParaRPr lang="en-US" sz="1500" dirty="0"/>
          </a:p>
        </p:txBody>
      </p:sp>
      <p:sp>
        <p:nvSpPr>
          <p:cNvPr id="49" name="Text 40"/>
          <p:cNvSpPr txBox="1"/>
          <p:nvPr/>
        </p:nvSpPr>
        <p:spPr>
          <a:xfrm>
            <a:off x="9484157" y="5998464"/>
            <a:ext cx="197601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26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reflect on and take charge of your own learning.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640080"/>
            <a:ext cx="3401568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640080"/>
            <a:ext cx="10973" cy="3401568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1207008"/>
            <a:ext cx="3401568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87968" y="640080"/>
            <a:ext cx="10973" cy="3401568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1773936"/>
            <a:ext cx="3401568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54896" y="640080"/>
            <a:ext cx="10973" cy="3401568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2340864"/>
            <a:ext cx="3401568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021824" y="640080"/>
            <a:ext cx="10973" cy="3401568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0" y="2907792"/>
            <a:ext cx="3401568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588752" y="640080"/>
            <a:ext cx="10973" cy="3401568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21040" y="3474720"/>
            <a:ext cx="3401568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55680" y="640080"/>
            <a:ext cx="10973" cy="3401568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4041648"/>
            <a:ext cx="3401568" cy="10973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722608" y="640080"/>
            <a:ext cx="10973" cy="3401568"/>
          </a:xfrm>
          <a:prstGeom prst="rect">
            <a:avLst/>
          </a:prstGeom>
          <a:solidFill>
            <a:srgbClr val="F2A900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0" y="4114800"/>
            <a:ext cx="1554480" cy="1554480"/>
          </a:xfrm>
          <a:prstGeom prst="ellipse">
            <a:avLst/>
          </a:prstGeom>
          <a:solidFill>
            <a:srgbClr val="1F2933">
              <a:alpha val="90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75" y="4487875"/>
            <a:ext cx="808330" cy="80833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&amp; CONSTRUCTION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" y="150876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worksite starts here.</a:t>
            </a:r>
            <a:endParaRPr lang="en-US" sz="42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32004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cut to finished build — real tools, real jobs, a real pathway to an apprenticeship.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400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144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6118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8862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38862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on internship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583680" y="470916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0" y="48646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17+</a:t>
            </a:r>
            <a:endParaRPr lang="en-US" sz="2800" dirty="0"/>
          </a:p>
        </p:txBody>
      </p:sp>
      <p:sp>
        <p:nvSpPr>
          <p:cNvPr id="30" name="Text 27"/>
          <p:cNvSpPr txBox="1"/>
          <p:nvPr/>
        </p:nvSpPr>
        <p:spPr>
          <a:xfrm>
            <a:off x="6858000" y="5413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accept it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 Education Australia  ·  Learn through your interests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Trades &amp; Construction — Big Picture Learning Journey</dc:title>
  <dc:subject>PptxGenJS Presentation</dc:subject>
  <dc:creator>Big Picture Education</dc:creator>
  <cp:lastModifiedBy>Big Picture Education</cp:lastModifiedBy>
  <cp:revision>1</cp:revision>
  <dcterms:created xsi:type="dcterms:W3CDTF">2026-09-02T08:36:22Z</dcterms:created>
  <dcterms:modified xsi:type="dcterms:W3CDTF">2026-09-02T08:36:22Z</dcterms:modified>
</cp:coreProperties>
</file>