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Engineering &amp; Manufacturing Big Picture learning-journey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six-stage Big Picture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Regular Project — Engineering &amp; Manufacturing.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Project — Engineering &amp; Manufacturing.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Through Internship — Engineering &amp; Manufacturing.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Project — Engineering &amp; Manufacturing.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IBPLC credential and the six Learning Goals it assesses.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Engineering &amp; Manufacturing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3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822960"/>
            <a:ext cx="2011680" cy="2286000"/>
          </a:xfrm>
          <a:prstGeom prst="hexagon">
            <a:avLst/>
          </a:prstGeom>
          <a:ln w="25400">
            <a:solidFill>
              <a:srgbClr val="F265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2011680"/>
            <a:ext cx="1371600" cy="1554480"/>
          </a:xfrm>
          <a:prstGeom prst="hexagon">
            <a:avLst/>
          </a:prstGeom>
          <a:ln w="19050">
            <a:solidFill>
              <a:srgbClr val="4A5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468880"/>
            <a:ext cx="1097280" cy="1234440"/>
          </a:xfrm>
          <a:prstGeom prst="hexagon">
            <a:avLst/>
          </a:prstGeom>
          <a:ln w="15875">
            <a:solidFill>
              <a:srgbClr val="F265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3291840"/>
            <a:ext cx="2377440" cy="2377440"/>
          </a:xfrm>
          <a:prstGeom prst="ellipse">
            <a:avLst/>
          </a:prstGeom>
          <a:solidFill>
            <a:srgbClr val="2E6E8E">
              <a:alpha val="8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86" y="3862426"/>
            <a:ext cx="1236269" cy="123626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3063240"/>
            <a:ext cx="2834640" cy="2834640"/>
          </a:xfrm>
          <a:prstGeom prst="ellipse">
            <a:avLst/>
          </a:prstGeom>
          <a:ln w="19050">
            <a:solidFill>
              <a:srgbClr val="F265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 ·  LEARNING JOURNEY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16916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Manufacturing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Precision, made real.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572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pathway through Big Picture Learning — projects, internships and the IBPLC.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5046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26522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“One student at a time, in a community of learners.”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320040"/>
            <a:ext cx="822960" cy="914400"/>
          </a:xfrm>
          <a:prstGeom prst="hexagon">
            <a:avLst/>
          </a:prstGeom>
          <a:ln w="15875">
            <a:solidFill>
              <a:srgbClr val="2E6E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Big Picture journey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521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with one advisory — a small group and a personal advisor — from Year 9 to 12, moving through six connected stages built around your interests and the 6 Learning Goals.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1540" y="2189988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07158"/>
            <a:ext cx="434340" cy="4343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951378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6E8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Plan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interests and the 6 Learning Goals.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8698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11598" y="2189988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8" y="2407158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71437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6E8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4643018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Projects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real interest into hands-on, exhibited work.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88757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31657" y="2189988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27" y="2407158"/>
            <a:ext cx="434340" cy="4343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591495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6E8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8463077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Project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463077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project that bridges you into the senior years.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91540" y="4567428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784598"/>
            <a:ext cx="434340" cy="4343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951378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6E8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Internships (LTI)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learning with an expert mentor.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368698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711598" y="4567428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68" y="4784598"/>
            <a:ext cx="434340" cy="43434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771437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6E8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4" name="Text 27"/>
          <p:cNvSpPr txBox="1"/>
          <p:nvPr/>
        </p:nvSpPr>
        <p:spPr>
          <a:xfrm>
            <a:off x="4643018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Project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4643018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capstone work in your field.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8188757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531657" y="4567428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827" y="4784598"/>
            <a:ext cx="434340" cy="43434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591495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6E8E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40" name="Text 32"/>
          <p:cNvSpPr txBox="1"/>
          <p:nvPr/>
        </p:nvSpPr>
        <p:spPr>
          <a:xfrm>
            <a:off x="8463077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IBPLC</a:t>
            </a:r>
            <a:endParaRPr lang="en-US" sz="1700" dirty="0"/>
          </a:p>
        </p:txBody>
      </p:sp>
      <p:sp>
        <p:nvSpPr>
          <p:cNvPr id="41" name="Text 33"/>
          <p:cNvSpPr txBox="1"/>
          <p:nvPr/>
        </p:nvSpPr>
        <p:spPr>
          <a:xfrm>
            <a:off x="8463077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 12 credential and Learner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320040"/>
            <a:ext cx="822960" cy="914400"/>
          </a:xfrm>
          <a:prstGeom prst="hexagon">
            <a:avLst/>
          </a:prstGeom>
          <a:ln w="15875">
            <a:solidFill>
              <a:srgbClr val="2E6E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REGULAR PROJECT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Regular Project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projects that turn a personal interest into real, hands-on work — planned, made and then exhibited to a genuine audience each term.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and CAD a design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iterate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a spec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ENGINEERING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prototype and test a working mechanism or product against a clear spec.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320040"/>
            <a:ext cx="822960" cy="914400"/>
          </a:xfrm>
          <a:prstGeom prst="hexagon">
            <a:avLst/>
          </a:prstGeom>
          <a:ln w="15875">
            <a:solidFill>
              <a:srgbClr val="2E6E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GATEWAY PROJECT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Gateway Project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more independent project that bridges the junior and senior years. It stretches your skills, connects to a future pathway and gets you ready for senior work.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 a real brief and spec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refine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performance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ENGINEERING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an engineering brief for a real client — design, build and evaluate it.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320040"/>
            <a:ext cx="822960" cy="914400"/>
          </a:xfrm>
          <a:prstGeom prst="hexagon">
            <a:avLst/>
          </a:prstGeom>
          <a:ln w="15875">
            <a:solidFill>
              <a:srgbClr val="2E6E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INTERNSHIP (LTI)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Through Internship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you learn in a real workplace beside an expert mentor, working on authentic projects that connect straight back to your learning goals.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machines and tools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 precision and safety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engineering and trade paths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ENGINEERING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 a week in a workshop, factory or engineering firm.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320040"/>
            <a:ext cx="822960" cy="914400"/>
          </a:xfrm>
          <a:prstGeom prst="hexagon">
            <a:avLst/>
          </a:prstGeom>
          <a:ln w="15875">
            <a:solidFill>
              <a:srgbClr val="2E6E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SENIOR PROJECT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Senior Project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in-depth and original work in the senior years — often guided by a university academic or an expert from an industry, trade or art.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sustained design‑build project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to industry standard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an engineer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ENGINEERING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capstone design‑build project mentored by an engineer or manufacturer.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320040"/>
            <a:ext cx="822960" cy="914400"/>
          </a:xfrm>
          <a:prstGeom prst="hexagon">
            <a:avLst/>
          </a:prstGeom>
          <a:ln w="15875">
            <a:solidFill>
              <a:srgbClr val="2E6E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CREDENTIAL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627632" y="8595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IBPLC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Big Picture Learning Credential is a rigorous, non‑ATAR pathway from school to work, training or university — recognised by 17+ Australian universities and warranted by the University of Melbourne.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57860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captured as a progression level on each of the 6 Learning Goals, plus a curated digital portfolio, a teacher narrative and a short student video profile.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552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6 LEARNING GOALS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45820" y="3890772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107942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874520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874520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ideas clearly, in many forms and to many audiences.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353458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50638" y="3890772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08" y="4107942"/>
            <a:ext cx="434340" cy="4343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79338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Reasoning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679338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observation, evidence and experiment to explain things.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158277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55457" y="3890772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627" y="4107942"/>
            <a:ext cx="434340" cy="4343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84157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Reasoning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484157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confidently with numbers, measurement and data.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45820" y="5536692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753862"/>
            <a:ext cx="434340" cy="4343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874520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Reasoning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1874520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people, perspectives, cultures and systems.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353458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650638" y="5536692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08" y="5753862"/>
            <a:ext cx="434340" cy="4343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679338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Qualities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5679338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integrity, organisation and self-awareness.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8158277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7EDF0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55457" y="5536692"/>
            <a:ext cx="868680" cy="86868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627" y="5753862"/>
            <a:ext cx="434340" cy="43434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484157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8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How to Learn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9484157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6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reflect on and take charge of your own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3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822960"/>
            <a:ext cx="2011680" cy="2286000"/>
          </a:xfrm>
          <a:prstGeom prst="hexagon">
            <a:avLst/>
          </a:prstGeom>
          <a:ln w="25400">
            <a:solidFill>
              <a:srgbClr val="F265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2011680"/>
            <a:ext cx="1371600" cy="1554480"/>
          </a:xfrm>
          <a:prstGeom prst="hexagon">
            <a:avLst/>
          </a:prstGeom>
          <a:ln w="19050">
            <a:solidFill>
              <a:srgbClr val="4A5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468880"/>
            <a:ext cx="1097280" cy="1234440"/>
          </a:xfrm>
          <a:prstGeom prst="hexagon">
            <a:avLst/>
          </a:prstGeom>
          <a:ln w="15875">
            <a:solidFill>
              <a:srgbClr val="F265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4114800"/>
            <a:ext cx="1554480" cy="1554480"/>
          </a:xfrm>
          <a:prstGeom prst="ellipse">
            <a:avLst/>
          </a:prstGeom>
          <a:solidFill>
            <a:srgbClr val="2E6E8E">
              <a:alpha val="9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4487875"/>
            <a:ext cx="808330" cy="8083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MANUFACTURING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15087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it. Build it. Test it.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sketch to prototype to spec — the discipline behind engineering and advanced manufacturing.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118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8862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38862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on internship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836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17+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accept it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  ·  Learn through your interests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&amp; Manufacturing — Big Picture Learning Journey</dc:title>
  <dc:subject>PptxGenJS Presentation</dc:subject>
  <dc:creator>Big Picture Education</dc:creator>
  <cp:lastModifiedBy>Big Picture Education</cp:lastModifiedBy>
  <cp:revision>1</cp:revision>
  <dcterms:created xsi:type="dcterms:W3CDTF">2026-09-02T08:36:22Z</dcterms:created>
  <dcterms:modified xsi:type="dcterms:W3CDTF">2026-09-02T08:36:22Z</dcterms:modified>
</cp:coreProperties>
</file>