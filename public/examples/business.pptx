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Business &amp; Enterprise Big Picture learning-journey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six-stage Big Picture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Regular Project — Business &amp;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Project — Business &amp;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Through Internship — Business &amp;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Project — Business &amp;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IBPLC credential and the six Learning Goals it assesses.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the Business &amp; Enterprise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371600"/>
            <a:ext cx="2651760" cy="2651760"/>
          </a:xfrm>
          <a:prstGeom prst="ellipse">
            <a:avLst/>
          </a:prstGeom>
          <a:ln w="19050">
            <a:solidFill>
              <a:srgbClr val="C698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8520" y="2743200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914400"/>
            <a:ext cx="118872" cy="118872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6" name="Shape 4"/>
          <p:cNvSpPr/>
          <p:nvPr/>
        </p:nvSpPr>
        <p:spPr>
          <a:xfrm>
            <a:off x="8458200" y="3291840"/>
            <a:ext cx="2377440" cy="2377440"/>
          </a:xfrm>
          <a:prstGeom prst="ellipse">
            <a:avLst/>
          </a:prstGeom>
          <a:solidFill>
            <a:srgbClr val="1D4E7E">
              <a:alpha val="8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86" y="3862426"/>
            <a:ext cx="1236269" cy="123626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3063240"/>
            <a:ext cx="2834640" cy="2834640"/>
          </a:xfrm>
          <a:prstGeom prst="ellipse">
            <a:avLst/>
          </a:prstGeom>
          <a:ln w="19050">
            <a:solidFill>
              <a:srgbClr val="C6982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 ·  LEARNING JOURNEY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16916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Enterprise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6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ideas into ventures.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572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pathway through Big Picture Learning — projects, internships and the IBPLC.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5046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6982F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“One student at a time, in a community of learners.”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11480"/>
            <a:ext cx="109728" cy="109728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4" name="Shape 2"/>
          <p:cNvSpPr/>
          <p:nvPr/>
        </p:nvSpPr>
        <p:spPr>
          <a:xfrm>
            <a:off x="11109960" y="640080"/>
            <a:ext cx="82296" cy="82296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Big Picture journey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with one advisory — a small group and a personal advisor — from Year 9 to 12, moving through six connected stages built around your interests and the 6 Learning Goals.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1.0980568771474202e+202" dist="3.6601895904914013e+201" dir="1.2124219161971466e+236">
              <a:srgbClr val="1A1A1A">
                <a:alpha val="1.5999999999999992e+24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1540" y="2189988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407158"/>
            <a:ext cx="434340" cy="4343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51378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4E7E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Plan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interests and the 6 Learning Goals.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68698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1.3945322339772236e+206" dist="4.648440779924079e+205" dir="7.27453149718288e+240">
              <a:srgbClr val="1A1A1A">
                <a:alpha val="1.5999999999999993e+249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11598" y="2189988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8" y="2407158"/>
            <a:ext cx="434340" cy="4343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71437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4E7E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4643018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Projects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real interest into hands-on, exhibited work.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88757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1.771055937151074e+210" dist="5.9035197905035806e+209" dir="4.364718898309728e+245">
              <a:srgbClr val="1A1A1A">
                <a:alpha val="1.5999999999999994e+254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31657" y="2189988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27" y="2407158"/>
            <a:ext cx="434340" cy="4343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591495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4E7E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18"/>
          <p:cNvSpPr txBox="1"/>
          <p:nvPr/>
        </p:nvSpPr>
        <p:spPr>
          <a:xfrm>
            <a:off x="8463077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Project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463077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project that bridges you into the senior years.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2.249241040181864e+214" dist="7.497470133939547e+213" dir="2.6188313389858368e+250">
              <a:srgbClr val="1A1A1A">
                <a:alpha val="1.5999999999999994e+259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91540" y="4567428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784598"/>
            <a:ext cx="434340" cy="4343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951378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4E7E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Internships (LTI)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learning with an expert mentor.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368698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2.8565361210309673e+218" dist="9.521787070103225e+217" dir="1.571298803391502e+255">
              <a:srgbClr val="1A1A1A">
                <a:alpha val="1.5999999999999994e+264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711598" y="4567428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768" y="4784598"/>
            <a:ext cx="434340" cy="4343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771437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4E7E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5" name="Text 28"/>
          <p:cNvSpPr txBox="1"/>
          <p:nvPr/>
        </p:nvSpPr>
        <p:spPr>
          <a:xfrm>
            <a:off x="4643018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Project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4643018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original capstone work in your field.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8188757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3.6278008737093285e+222" dist="1.2092669579031096e+222" dir="9.427792820349012e+259">
              <a:srgbClr val="1A1A1A">
                <a:alpha val="1.5999999999999994e+269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531657" y="4567428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827" y="4784598"/>
            <a:ext cx="434340" cy="43434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591495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D4E7E">
                    <a:alpha val="3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41" name="Text 33"/>
          <p:cNvSpPr txBox="1"/>
          <p:nvPr/>
        </p:nvSpPr>
        <p:spPr>
          <a:xfrm>
            <a:off x="8463077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IBPLC</a:t>
            </a:r>
            <a:endParaRPr lang="en-US" sz="1700" dirty="0"/>
          </a:p>
        </p:txBody>
      </p:sp>
      <p:sp>
        <p:nvSpPr>
          <p:cNvPr id="42" name="Text 34"/>
          <p:cNvSpPr txBox="1"/>
          <p:nvPr/>
        </p:nvSpPr>
        <p:spPr>
          <a:xfrm>
            <a:off x="8463077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Year 12 credential and Learner Profile.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11480"/>
            <a:ext cx="109728" cy="109728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4" name="Shape 2"/>
          <p:cNvSpPr/>
          <p:nvPr/>
        </p:nvSpPr>
        <p:spPr>
          <a:xfrm>
            <a:off x="11109960" y="640080"/>
            <a:ext cx="82296" cy="82296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REGULAR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Regular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Student-designed projects that turn a personal interest into real, hands-on work — planned, made and then exhibited to a genuine audience each term.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real value proposition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cost, price and profit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the results to a panel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4.607307109610847e+226" dist="1.5357690365369493e+226" dir="5.656675692209407e+264">
              <a:srgbClr val="1A1A1A">
                <a:alpha val="1.5999999999999993e+27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micro‑enterprise — build the product, set the price and make your first real sales.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11480"/>
            <a:ext cx="109728" cy="109728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4" name="Shape 2"/>
          <p:cNvSpPr/>
          <p:nvPr/>
        </p:nvSpPr>
        <p:spPr>
          <a:xfrm>
            <a:off x="11109960" y="640080"/>
            <a:ext cx="82296" cy="82296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GATEWAY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Gateway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deeper, more independent project that bridges the junior and senior years. It stretches your skills, connects to a future pathway and gets you ready for senior work.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revenue and costs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 market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to an investor panel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5.851280029205776e+230" dist="1.950426676401926e+230" dir="3.3940054153256444e+269">
              <a:srgbClr val="1A1A1A">
                <a:alpha val="1.5999999999999994e+27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 full business plan for a venture and present it to a mock investor board.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11480"/>
            <a:ext cx="109728" cy="109728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4" name="Shape 2"/>
          <p:cNvSpPr/>
          <p:nvPr/>
        </p:nvSpPr>
        <p:spPr>
          <a:xfrm>
            <a:off x="11109960" y="640080"/>
            <a:ext cx="82296" cy="82296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INTERNSHIP (LTI)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Through Internship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you learn in a real workplace beside an expert mentor, working on authentic projects that connect straight back to your learning goals.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real projects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a business runs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business and startup paths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.431125637091335e+234" dist="2.4770418790304458e+234" dir="2.0364032491953868e+274">
              <a:srgbClr val="1A1A1A">
                <a:alpha val="1.5999999999999996e+28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days a week inside a business — marketing, finance, operations or sales.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11480"/>
            <a:ext cx="109728" cy="109728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4" name="Shape 2"/>
          <p:cNvSpPr/>
          <p:nvPr/>
        </p:nvSpPr>
        <p:spPr>
          <a:xfrm>
            <a:off x="11109960" y="640080"/>
            <a:ext cx="82296" cy="82296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SENIOR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Senior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in-depth and original work in the senior years — often guided by a university academic or an expert from an industry, trade or art.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sustained real‑world project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commercial impact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an industry leader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9.437529559105996e+238" dist="3.145843186368666e+238" dir="1.221841949517232e+279">
              <a:srgbClr val="1A1A1A">
                <a:alpha val="1.5999999999999996e+28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capstone venture or consulting project mentored by a business owner or leader.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11480"/>
            <a:ext cx="109728" cy="109728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4" name="Shape 2"/>
          <p:cNvSpPr/>
          <p:nvPr/>
        </p:nvSpPr>
        <p:spPr>
          <a:xfrm>
            <a:off x="11109960" y="640080"/>
            <a:ext cx="82296" cy="82296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CREDENTIAL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27632" y="8595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IBPLC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7373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Big Picture Learning Credential is a rigorous, non‑ATAR pathway from school to work, training or university — recognised by 17+ Australian universities and warranted by the University of Melbourne.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57860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E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captured as a progression level on each of the 6 Learning Goals, plus a curated digital portfolio, a teacher narrative and a short student video profile.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552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4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THE 6 LEARNING GOALS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/>
          <a:effectLst>
            <a:outerShdw sx="100000" sy="100000" kx="0" ky="0" algn="bl" rotWithShape="0" blurRad="1.1985662540064614e+243" dist="3.995220846688206e+242" dir="7.331051697103393e+283">
              <a:srgbClr val="1A1A1A">
                <a:alpha val="1.5999999999999996e+294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5820" y="3890772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107942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74520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874520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ideas clearly, in many forms and to many audiences.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353458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/>
          <a:effectLst>
            <a:outerShdw sx="100000" sy="100000" kx="0" ky="0" algn="bl" rotWithShape="0" blurRad="1.522179142588206e+247" dist="5.0739304752940216e+246" dir="4.3986310182620354e+288">
              <a:srgbClr val="1A1A1A">
                <a:alpha val="1.5999999999999996e+299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50638" y="3890772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08" y="4107942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79338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Reasoning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679338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observation, evidence and experiment to explain things.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158277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/>
          <a:effectLst>
            <a:outerShdw sx="100000" sy="100000" kx="0" ky="0" algn="bl" rotWithShape="0" blurRad="1.9331675110870215e+251" dist="6.443891703623408e+250" dir="2.6391786109572213e+293">
              <a:srgbClr val="1A1A1A">
                <a:alpha val="1.5999999999999995e+304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55457" y="3890772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627" y="4107942"/>
            <a:ext cx="434340" cy="4343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84157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Reasoning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484157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confidently with numbers, measurement and data.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/>
          <a:effectLst>
            <a:outerShdw sx="100000" sy="100000" kx="0" ky="0" algn="bl" rotWithShape="0" blurRad="2.4551227390805173e+255" dist="8.183742463601727e+254" dir="1.5835071665743328e+298">
              <a:srgbClr val="1A1A1A">
                <a:alpha val="Infinity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45820" y="5536692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753862"/>
            <a:ext cx="434340" cy="4343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874520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Reasoning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874520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people, perspectives, cultures and systems.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353458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/>
          <a:effectLst>
            <a:outerShdw sx="100000" sy="100000" kx="0" ky="0" algn="bl" rotWithShape="0" blurRad="3.118005878632257e+259" dist="1.0393352928774194e+259" dir="9.501042999445996e+302">
              <a:srgbClr val="1A1A1A">
                <a:alpha val="Infinity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650638" y="5536692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08" y="5753862"/>
            <a:ext cx="434340" cy="43434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679338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Qualities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5679338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integrity, organisation and self-awareness.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8158277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/>
          <a:effectLst>
            <a:outerShdw sx="100000" sy="100000" kx="0" ky="0" algn="bl" rotWithShape="0" blurRad="3.959867465862966e+263" dist="1.3199558219543225e+263" dir="5.700625799667598e+307">
              <a:srgbClr val="1A1A1A">
                <a:alpha val="Infinity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455457" y="5536692"/>
            <a:ext cx="868680" cy="868680"/>
          </a:xfrm>
          <a:prstGeom prst="ellipse">
            <a:avLst/>
          </a:prstGeom>
          <a:solidFill>
            <a:srgbClr val="1D4E7E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627" y="5753862"/>
            <a:ext cx="434340" cy="43434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484157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How to Learn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9484157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reflect on and take charge of your own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371600"/>
            <a:ext cx="2651760" cy="2651760"/>
          </a:xfrm>
          <a:prstGeom prst="ellipse">
            <a:avLst/>
          </a:prstGeom>
          <a:ln w="19050">
            <a:solidFill>
              <a:srgbClr val="C698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8520" y="2743200"/>
            <a:ext cx="146304" cy="146304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914400"/>
            <a:ext cx="118872" cy="118872"/>
          </a:xfrm>
          <a:prstGeom prst="ellipse">
            <a:avLst/>
          </a:prstGeom>
          <a:solidFill>
            <a:srgbClr val="C6982F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4114800"/>
            <a:ext cx="1554480" cy="1554480"/>
          </a:xfrm>
          <a:prstGeom prst="ellipse">
            <a:avLst/>
          </a:prstGeom>
          <a:solidFill>
            <a:srgbClr val="1D4E7E">
              <a:alpha val="9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4487875"/>
            <a:ext cx="808330" cy="8083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150876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something real.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00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value proposition, make your first sales and learn how organisations really run.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6118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8862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days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38862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on internship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836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17+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accept it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  ·  Learn through your interests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&amp; Enterprise — Big Picture Learning Journey</dc:title>
  <dc:subject>PptxGenJS Presentation</dc:subject>
  <dc:creator>Big Picture Education</dc:creator>
  <cp:lastModifiedBy>Big Picture Education</cp:lastModifiedBy>
  <cp:revision>1</cp:revision>
  <dcterms:created xsi:type="dcterms:W3CDTF">2026-09-02T08:36:22Z</dcterms:created>
  <dcterms:modified xsi:type="dcterms:W3CDTF">2026-09-02T08:36:22Z</dcterms:modified>
</cp:coreProperties>
</file>