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for the Education &amp; Human Services Big Picture learning-journey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six-stage Big Picture journey.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Regular Project — Education &amp; Human Services.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Gateway Project — Education &amp; Human Services.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Learning Through Internship — Education &amp; Human Services.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Senior Project — Education &amp; Human Services.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IBPLC credential and the six Learning Goals it assesses.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 for the Education &amp; Human Services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52A54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1097280"/>
            <a:ext cx="914400" cy="914400"/>
          </a:xfrm>
          <a:prstGeom prst="ellipse">
            <a:avLst/>
          </a:prstGeom>
          <a:solidFill>
            <a:srgbClr val="E0A458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1920240"/>
            <a:ext cx="548640" cy="548640"/>
          </a:xfrm>
          <a:prstGeom prst="ellipse">
            <a:avLst/>
          </a:prstGeom>
          <a:solidFill>
            <a:srgbClr val="E0A458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326880" y="3108960"/>
            <a:ext cx="384048" cy="384048"/>
          </a:xfrm>
          <a:prstGeom prst="ellipse">
            <a:avLst/>
          </a:prstGeom>
          <a:solidFill>
            <a:srgbClr val="E0A458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0" y="914400"/>
            <a:ext cx="310896" cy="310896"/>
          </a:xfrm>
          <a:prstGeom prst="ellipse">
            <a:avLst/>
          </a:prstGeom>
          <a:solidFill>
            <a:srgbClr val="E0A458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138160" y="2743200"/>
            <a:ext cx="457200" cy="457200"/>
          </a:xfrm>
          <a:prstGeom prst="ellipse">
            <a:avLst/>
          </a:prstGeom>
          <a:solidFill>
            <a:srgbClr val="E0A458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458200" y="3291840"/>
            <a:ext cx="2377440" cy="2377440"/>
          </a:xfrm>
          <a:prstGeom prst="ellipse">
            <a:avLst/>
          </a:prstGeom>
          <a:solidFill>
            <a:srgbClr val="5E548E">
              <a:alpha val="88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8786" y="3862426"/>
            <a:ext cx="1236269" cy="123626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29600" y="3063240"/>
            <a:ext cx="2834640" cy="2834640"/>
          </a:xfrm>
          <a:prstGeom prst="ellipse">
            <a:avLst/>
          </a:prstGeom>
          <a:ln w="19050">
            <a:solidFill>
              <a:srgbClr val="E0A45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1234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  ·  LEARNING JOURNEY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03504" y="1691640"/>
            <a:ext cx="7498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Education &amp; Human Services</a:t>
            </a:r>
            <a:endParaRPr lang="en-US" sz="46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379476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E0A45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Help people grow.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457200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pathway through Big Picture Learning — projects, internships and the IBPLC.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5504688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0A458">
                    <a:alpha val="88000"/>
                  </a:srgbClr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“One student at a time, in a community of learners.”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6172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 Education Australia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B"/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365760"/>
            <a:ext cx="457200" cy="457200"/>
          </a:xfrm>
          <a:prstGeom prst="ellipse">
            <a:avLst/>
          </a:prstGeom>
          <a:solidFill>
            <a:srgbClr val="5E548E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35640" y="914400"/>
            <a:ext cx="274320" cy="274320"/>
          </a:xfrm>
          <a:prstGeom prst="ellipse">
            <a:avLst/>
          </a:prstGeom>
          <a:solidFill>
            <a:srgbClr val="5E548E">
              <a:alpha val="4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029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254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Your Big Picture journey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45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stay with one advisory — a small group and a personal advisor — from Year 9 to 12, moving through six connected stages built around your interests and the 6 Learning Goals.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ECE6F5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91540" y="2189988"/>
            <a:ext cx="868680" cy="868680"/>
          </a:xfrm>
          <a:prstGeom prst="ellipse">
            <a:avLst/>
          </a:prstGeom>
          <a:solidFill>
            <a:srgbClr val="5E548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710" y="2407158"/>
            <a:ext cx="434340" cy="4343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2951378" y="21305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5E548E">
                    <a:alpha val="38000"/>
                  </a:srgbClr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08152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54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Learning Plan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44728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645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your interests and the 6 Learning Goals.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68698" y="187452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ECE6F5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11598" y="2189988"/>
            <a:ext cx="868680" cy="868680"/>
          </a:xfrm>
          <a:prstGeom prst="ellipse">
            <a:avLst/>
          </a:prstGeom>
          <a:solidFill>
            <a:srgbClr val="5E548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768" y="2407158"/>
            <a:ext cx="434340" cy="43434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771437" y="21305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5E548E">
                    <a:alpha val="38000"/>
                  </a:srgbClr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3000" dirty="0"/>
          </a:p>
        </p:txBody>
      </p:sp>
      <p:sp>
        <p:nvSpPr>
          <p:cNvPr id="17" name="Text 13"/>
          <p:cNvSpPr txBox="1"/>
          <p:nvPr/>
        </p:nvSpPr>
        <p:spPr>
          <a:xfrm>
            <a:off x="4643018" y="308152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54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Regular Projects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4643018" y="344728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645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real interest into hands-on, exhibited work.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188757" y="187452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ECE6F5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531657" y="2189988"/>
            <a:ext cx="868680" cy="868680"/>
          </a:xfrm>
          <a:prstGeom prst="ellipse">
            <a:avLst/>
          </a:prstGeom>
          <a:solidFill>
            <a:srgbClr val="5E548E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8827" y="2407158"/>
            <a:ext cx="434340" cy="43434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0591495" y="21305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5E548E">
                    <a:alpha val="38000"/>
                  </a:srgbClr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3000" dirty="0"/>
          </a:p>
        </p:txBody>
      </p:sp>
      <p:sp>
        <p:nvSpPr>
          <p:cNvPr id="23" name="Text 18"/>
          <p:cNvSpPr txBox="1"/>
          <p:nvPr/>
        </p:nvSpPr>
        <p:spPr>
          <a:xfrm>
            <a:off x="8463077" y="308152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54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Gateway Project</a:t>
            </a:r>
            <a:endParaRPr lang="en-US" sz="1700" dirty="0"/>
          </a:p>
        </p:txBody>
      </p:sp>
      <p:sp>
        <p:nvSpPr>
          <p:cNvPr id="24" name="Text 19"/>
          <p:cNvSpPr txBox="1"/>
          <p:nvPr/>
        </p:nvSpPr>
        <p:spPr>
          <a:xfrm>
            <a:off x="8463077" y="344728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645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deeper project that bridges you into the senior years.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548640" y="425196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ECE6F5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91540" y="4567428"/>
            <a:ext cx="868680" cy="868680"/>
          </a:xfrm>
          <a:prstGeom prst="ellipse">
            <a:avLst/>
          </a:prstGeom>
          <a:solidFill>
            <a:srgbClr val="5E548E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710" y="4784598"/>
            <a:ext cx="434340" cy="43434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2951378" y="450799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5E548E">
                    <a:alpha val="38000"/>
                  </a:srgbClr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3000" dirty="0"/>
          </a:p>
        </p:txBody>
      </p:sp>
      <p:sp>
        <p:nvSpPr>
          <p:cNvPr id="29" name="Text 23"/>
          <p:cNvSpPr txBox="1"/>
          <p:nvPr/>
        </p:nvSpPr>
        <p:spPr>
          <a:xfrm>
            <a:off x="822960" y="545896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54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Internships (LTI)</a:t>
            </a:r>
            <a:endParaRPr lang="en-US" sz="1700" dirty="0"/>
          </a:p>
        </p:txBody>
      </p:sp>
      <p:sp>
        <p:nvSpPr>
          <p:cNvPr id="30" name="Text 24"/>
          <p:cNvSpPr txBox="1"/>
          <p:nvPr/>
        </p:nvSpPr>
        <p:spPr>
          <a:xfrm>
            <a:off x="822960" y="582472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645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days a week learning with an expert mentor.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4368698" y="425196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ECE6F5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4711598" y="4567428"/>
            <a:ext cx="868680" cy="868680"/>
          </a:xfrm>
          <a:prstGeom prst="ellipse">
            <a:avLst/>
          </a:prstGeom>
          <a:solidFill>
            <a:srgbClr val="5E548E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8768" y="4784598"/>
            <a:ext cx="434340" cy="43434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6771437" y="450799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5E548E">
                    <a:alpha val="38000"/>
                  </a:srgbClr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3000" dirty="0"/>
          </a:p>
        </p:txBody>
      </p:sp>
      <p:sp>
        <p:nvSpPr>
          <p:cNvPr id="35" name="Text 28"/>
          <p:cNvSpPr txBox="1"/>
          <p:nvPr/>
        </p:nvSpPr>
        <p:spPr>
          <a:xfrm>
            <a:off x="4643018" y="545896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54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Senior Project</a:t>
            </a:r>
            <a:endParaRPr lang="en-US" sz="1700" dirty="0"/>
          </a:p>
        </p:txBody>
      </p:sp>
      <p:sp>
        <p:nvSpPr>
          <p:cNvPr id="36" name="Text 29"/>
          <p:cNvSpPr txBox="1"/>
          <p:nvPr/>
        </p:nvSpPr>
        <p:spPr>
          <a:xfrm>
            <a:off x="4643018" y="582472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645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Sustained, original capstone work in your field.</a:t>
            </a:r>
            <a:endParaRPr lang="en-US" sz="1200" dirty="0"/>
          </a:p>
        </p:txBody>
      </p:sp>
      <p:sp>
        <p:nvSpPr>
          <p:cNvPr id="37" name="Shape 30"/>
          <p:cNvSpPr/>
          <p:nvPr/>
        </p:nvSpPr>
        <p:spPr>
          <a:xfrm>
            <a:off x="8188757" y="425196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ECE6F5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8531657" y="4567428"/>
            <a:ext cx="868680" cy="868680"/>
          </a:xfrm>
          <a:prstGeom prst="ellipse">
            <a:avLst/>
          </a:prstGeom>
          <a:solidFill>
            <a:srgbClr val="5E548E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8827" y="4784598"/>
            <a:ext cx="434340" cy="434340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10591495" y="450799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5E548E">
                    <a:alpha val="38000"/>
                  </a:srgbClr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06</a:t>
            </a:r>
            <a:endParaRPr lang="en-US" sz="3000" dirty="0"/>
          </a:p>
        </p:txBody>
      </p:sp>
      <p:sp>
        <p:nvSpPr>
          <p:cNvPr id="41" name="Text 33"/>
          <p:cNvSpPr txBox="1"/>
          <p:nvPr/>
        </p:nvSpPr>
        <p:spPr>
          <a:xfrm>
            <a:off x="8463077" y="545896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54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IBPLC</a:t>
            </a:r>
            <a:endParaRPr lang="en-US" sz="1700" dirty="0"/>
          </a:p>
        </p:txBody>
      </p:sp>
      <p:sp>
        <p:nvSpPr>
          <p:cNvPr id="42" name="Text 34"/>
          <p:cNvSpPr txBox="1"/>
          <p:nvPr/>
        </p:nvSpPr>
        <p:spPr>
          <a:xfrm>
            <a:off x="8463077" y="582472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645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Year 12 credential and Learner Profile.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B"/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365760"/>
            <a:ext cx="457200" cy="457200"/>
          </a:xfrm>
          <a:prstGeom prst="ellipse">
            <a:avLst/>
          </a:prstGeom>
          <a:solidFill>
            <a:srgbClr val="5E548E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35640" y="914400"/>
            <a:ext cx="274320" cy="274320"/>
          </a:xfrm>
          <a:prstGeom prst="ellipse">
            <a:avLst/>
          </a:prstGeom>
          <a:solidFill>
            <a:srgbClr val="5E548E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438912"/>
            <a:ext cx="914400" cy="914400"/>
          </a:xfrm>
          <a:prstGeom prst="ellipse">
            <a:avLst/>
          </a:prstGeom>
          <a:solidFill>
            <a:srgbClr val="5E548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67512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603504"/>
            <a:ext cx="51508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E5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02 · REGULAR PROJECT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896112"/>
            <a:ext cx="51508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254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Regular Project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920240"/>
            <a:ext cx="624809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645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Student-designed projects that turn a personal interest into real, hands-on work — planned, made and then exhibited to a genuine audience each term.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246120"/>
            <a:ext cx="6248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5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66928" y="3758184"/>
            <a:ext cx="146304" cy="146304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59536" y="3648456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E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 real learners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66928" y="4325112"/>
            <a:ext cx="146304" cy="146304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59536" y="4215384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E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Facilitate a live session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66928" y="4892040"/>
            <a:ext cx="146304" cy="146304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59536" y="4782312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E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and improve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7345375" y="1417320"/>
            <a:ext cx="4297680" cy="4709160"/>
          </a:xfrm>
          <a:prstGeom prst="roundRect">
            <a:avLst>
              <a:gd name="adj" fmla="val 3404"/>
            </a:avLst>
          </a:prstGeom>
          <a:solidFill>
            <a:srgbClr val="ECE6F5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579815" y="1737360"/>
            <a:ext cx="1828800" cy="1828800"/>
          </a:xfrm>
          <a:prstGeom prst="ellipse">
            <a:avLst/>
          </a:prstGeom>
          <a:solidFill>
            <a:srgbClr val="5E548E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7015" y="2194560"/>
            <a:ext cx="914400" cy="9144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711135" y="3840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5E5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EDUCATION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7729423" y="4206240"/>
            <a:ext cx="35295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650" i="1" dirty="0">
                <a:solidFill>
                  <a:srgbClr val="2E254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Design and run a lesson or workshop for younger students — then reflect on what worked.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B"/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365760"/>
            <a:ext cx="457200" cy="457200"/>
          </a:xfrm>
          <a:prstGeom prst="ellipse">
            <a:avLst/>
          </a:prstGeom>
          <a:solidFill>
            <a:srgbClr val="5E548E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35640" y="914400"/>
            <a:ext cx="274320" cy="274320"/>
          </a:xfrm>
          <a:prstGeom prst="ellipse">
            <a:avLst/>
          </a:prstGeom>
          <a:solidFill>
            <a:srgbClr val="5E548E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394960" y="438912"/>
            <a:ext cx="914400" cy="914400"/>
          </a:xfrm>
          <a:prstGeom prst="ellipse">
            <a:avLst/>
          </a:prstGeom>
          <a:solidFill>
            <a:srgbClr val="5E548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667512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92240" y="603504"/>
            <a:ext cx="51508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E5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03 · GATEWAY PROJECT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492240" y="896112"/>
            <a:ext cx="51508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254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Gateway Project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394960" y="1920240"/>
            <a:ext cx="624809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645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deeper, more independent project that bridges the junior and senior years. It stretches your skills, connects to a future pathway and gets you ready for senior work.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394960" y="3246120"/>
            <a:ext cx="6248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5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13248" y="3758184"/>
            <a:ext cx="146304" cy="146304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705856" y="3648456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E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 genuine need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413248" y="4325112"/>
            <a:ext cx="146304" cy="146304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705856" y="4215384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E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inclusive activities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413248" y="4892040"/>
            <a:ext cx="146304" cy="146304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705856" y="4782312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E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outcomes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548640" y="1417320"/>
            <a:ext cx="4297680" cy="4709160"/>
          </a:xfrm>
          <a:prstGeom prst="roundRect">
            <a:avLst>
              <a:gd name="adj" fmla="val 3404"/>
            </a:avLst>
          </a:prstGeom>
          <a:solidFill>
            <a:srgbClr val="ECE6F5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783080" y="1737360"/>
            <a:ext cx="1828800" cy="1828800"/>
          </a:xfrm>
          <a:prstGeom prst="ellipse">
            <a:avLst/>
          </a:prstGeom>
          <a:solidFill>
            <a:srgbClr val="5E548E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2194560"/>
            <a:ext cx="914400" cy="9144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914400" y="3840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5E5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EDUCATION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932688" y="4206240"/>
            <a:ext cx="35295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650" i="1" dirty="0">
                <a:solidFill>
                  <a:srgbClr val="2E254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Create a support or mentoring program for a group and evaluate its impact.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B"/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365760"/>
            <a:ext cx="457200" cy="457200"/>
          </a:xfrm>
          <a:prstGeom prst="ellipse">
            <a:avLst/>
          </a:prstGeom>
          <a:solidFill>
            <a:srgbClr val="5E548E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35640" y="914400"/>
            <a:ext cx="274320" cy="274320"/>
          </a:xfrm>
          <a:prstGeom prst="ellipse">
            <a:avLst/>
          </a:prstGeom>
          <a:solidFill>
            <a:srgbClr val="5E548E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438912"/>
            <a:ext cx="914400" cy="914400"/>
          </a:xfrm>
          <a:prstGeom prst="ellipse">
            <a:avLst/>
          </a:prstGeom>
          <a:solidFill>
            <a:srgbClr val="5E548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67512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603504"/>
            <a:ext cx="51508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E5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04 · INTERNSHIP (LTI)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896112"/>
            <a:ext cx="51508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254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Learning Through Internship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920240"/>
            <a:ext cx="624809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645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days a week you learn in a real workplace beside an expert mentor, working on authentic projects that connect straight back to your learning goals.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246120"/>
            <a:ext cx="6248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5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66928" y="3758184"/>
            <a:ext cx="146304" cy="146304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59536" y="3648456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E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real learners and clients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66928" y="4325112"/>
            <a:ext cx="146304" cy="146304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59536" y="4215384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E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communication and care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66928" y="4892040"/>
            <a:ext cx="146304" cy="146304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59536" y="4782312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E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 teaching and human services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7345375" y="1417320"/>
            <a:ext cx="4297680" cy="4709160"/>
          </a:xfrm>
          <a:prstGeom prst="roundRect">
            <a:avLst>
              <a:gd name="adj" fmla="val 3404"/>
            </a:avLst>
          </a:prstGeom>
          <a:solidFill>
            <a:srgbClr val="ECE6F5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579815" y="1737360"/>
            <a:ext cx="1828800" cy="1828800"/>
          </a:xfrm>
          <a:prstGeom prst="ellipse">
            <a:avLst/>
          </a:prstGeom>
          <a:solidFill>
            <a:srgbClr val="5E548E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7015" y="2194560"/>
            <a:ext cx="914400" cy="9144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711135" y="3840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5E5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EDUCATION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7729423" y="4206240"/>
            <a:ext cx="35295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650" i="1" dirty="0">
                <a:solidFill>
                  <a:srgbClr val="2E254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Two days a week in a school, early‑learning centre or community service.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B"/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365760"/>
            <a:ext cx="457200" cy="457200"/>
          </a:xfrm>
          <a:prstGeom prst="ellipse">
            <a:avLst/>
          </a:prstGeom>
          <a:solidFill>
            <a:srgbClr val="5E548E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35640" y="914400"/>
            <a:ext cx="274320" cy="274320"/>
          </a:xfrm>
          <a:prstGeom prst="ellipse">
            <a:avLst/>
          </a:prstGeom>
          <a:solidFill>
            <a:srgbClr val="5E548E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394960" y="438912"/>
            <a:ext cx="914400" cy="914400"/>
          </a:xfrm>
          <a:prstGeom prst="ellipse">
            <a:avLst/>
          </a:prstGeom>
          <a:solidFill>
            <a:srgbClr val="5E548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667512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92240" y="603504"/>
            <a:ext cx="51508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E5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05 · SENIOR PROJECT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492240" y="896112"/>
            <a:ext cx="51508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254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Senior Project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394960" y="1920240"/>
            <a:ext cx="624809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645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Sustained, in-depth and original work in the senior years — often guided by a university academic or an expert from an industry, trade or art.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394960" y="3246120"/>
            <a:ext cx="6248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5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13248" y="3758184"/>
            <a:ext cx="146304" cy="146304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705856" y="3648456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E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real placement work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413248" y="4325112"/>
            <a:ext cx="146304" cy="146304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705856" y="4215384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E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Reflective, ethical practice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413248" y="4892040"/>
            <a:ext cx="146304" cy="146304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705856" y="4782312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E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Mentored by a professional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548640" y="1417320"/>
            <a:ext cx="4297680" cy="4709160"/>
          </a:xfrm>
          <a:prstGeom prst="roundRect">
            <a:avLst>
              <a:gd name="adj" fmla="val 3404"/>
            </a:avLst>
          </a:prstGeom>
          <a:solidFill>
            <a:srgbClr val="ECE6F5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783080" y="1737360"/>
            <a:ext cx="1828800" cy="1828800"/>
          </a:xfrm>
          <a:prstGeom prst="ellipse">
            <a:avLst/>
          </a:prstGeom>
          <a:solidFill>
            <a:srgbClr val="5E548E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2194560"/>
            <a:ext cx="914400" cy="9144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914400" y="3840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5E5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EDUCATION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932688" y="4206240"/>
            <a:ext cx="35295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650" i="1" dirty="0">
                <a:solidFill>
                  <a:srgbClr val="2E254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capstone in a classroom or community setting, mentored by an educator or social worker.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B"/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365760"/>
            <a:ext cx="457200" cy="457200"/>
          </a:xfrm>
          <a:prstGeom prst="ellipse">
            <a:avLst/>
          </a:prstGeom>
          <a:solidFill>
            <a:srgbClr val="5E548E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35640" y="914400"/>
            <a:ext cx="274320" cy="274320"/>
          </a:xfrm>
          <a:prstGeom prst="ellipse">
            <a:avLst/>
          </a:prstGeom>
          <a:solidFill>
            <a:srgbClr val="5E548E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438912"/>
            <a:ext cx="914400" cy="914400"/>
          </a:xfrm>
          <a:prstGeom prst="ellipse">
            <a:avLst/>
          </a:prstGeom>
          <a:solidFill>
            <a:srgbClr val="5E548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67512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5669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E5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12 CREDENTIAL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627632" y="859536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254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IBPLC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737360"/>
            <a:ext cx="9144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645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International Big Picture Learning Credential is a rigorous, non‑ATAR pathway from school to work, training or university — recognised by 17+ Australian universities and warranted by the University of Melbourne.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578608"/>
            <a:ext cx="10698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E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work is captured as a progression level on each of the 6 Learning Goals, plus a curated digital portfolio, a teacher narrative and a short student video profile.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255264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5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AGAINST THE 6 LEARNING GOALS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363931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ECE6F5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45820" y="3890772"/>
            <a:ext cx="868680" cy="868680"/>
          </a:xfrm>
          <a:prstGeom prst="ellipse">
            <a:avLst/>
          </a:prstGeom>
          <a:solidFill>
            <a:srgbClr val="5E548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4107942"/>
            <a:ext cx="434340" cy="4343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874520" y="387705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E254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Communication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1874520" y="435254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45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ideas clearly, in many forms and to many audiences.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4353458" y="363931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ECE6F5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650638" y="3890772"/>
            <a:ext cx="868680" cy="868680"/>
          </a:xfrm>
          <a:prstGeom prst="ellipse">
            <a:avLst/>
          </a:prstGeom>
          <a:solidFill>
            <a:srgbClr val="5E548E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808" y="4107942"/>
            <a:ext cx="434340" cy="43434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679338" y="387705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E254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Empirical Reasoning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5679338" y="435254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45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observation, evidence and experiment to explain things.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8158277" y="363931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ECE6F5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455457" y="3890772"/>
            <a:ext cx="868680" cy="868680"/>
          </a:xfrm>
          <a:prstGeom prst="ellipse">
            <a:avLst/>
          </a:prstGeom>
          <a:solidFill>
            <a:srgbClr val="5E548E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2627" y="4107942"/>
            <a:ext cx="434340" cy="43434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484157" y="387705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E254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Quantitative Reasoning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9484157" y="435254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45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confidently with numbers, measurement and data.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48640" y="528523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ECE6F5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845820" y="5536692"/>
            <a:ext cx="868680" cy="868680"/>
          </a:xfrm>
          <a:prstGeom prst="ellipse">
            <a:avLst/>
          </a:prstGeom>
          <a:solidFill>
            <a:srgbClr val="5E548E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990" y="5753862"/>
            <a:ext cx="434340" cy="43434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874520" y="552297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E254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Social Reasoning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1874520" y="599846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45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people, perspectives, cultures and systems.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4353458" y="528523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ECE6F5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4650638" y="5536692"/>
            <a:ext cx="868680" cy="868680"/>
          </a:xfrm>
          <a:prstGeom prst="ellipse">
            <a:avLst/>
          </a:prstGeom>
          <a:solidFill>
            <a:srgbClr val="5E548E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7808" y="5753862"/>
            <a:ext cx="434340" cy="43434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5679338" y="552297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E254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Personal Qualities</a:t>
            </a:r>
            <a:endParaRPr lang="en-US" sz="1500" dirty="0"/>
          </a:p>
        </p:txBody>
      </p:sp>
      <p:sp>
        <p:nvSpPr>
          <p:cNvPr id="36" name="Text 28"/>
          <p:cNvSpPr txBox="1"/>
          <p:nvPr/>
        </p:nvSpPr>
        <p:spPr>
          <a:xfrm>
            <a:off x="5679338" y="599846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45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Persistence, integrity, organisation and self-awareness.</a:t>
            </a:r>
            <a:endParaRPr lang="en-US" sz="1150" dirty="0"/>
          </a:p>
        </p:txBody>
      </p:sp>
      <p:sp>
        <p:nvSpPr>
          <p:cNvPr id="37" name="Shape 29"/>
          <p:cNvSpPr/>
          <p:nvPr/>
        </p:nvSpPr>
        <p:spPr>
          <a:xfrm>
            <a:off x="8158277" y="528523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ECE6F5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8455457" y="5536692"/>
            <a:ext cx="868680" cy="868680"/>
          </a:xfrm>
          <a:prstGeom prst="ellipse">
            <a:avLst/>
          </a:prstGeom>
          <a:solidFill>
            <a:srgbClr val="5E548E"/>
          </a:solidFill>
          <a:ln/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72627" y="5753862"/>
            <a:ext cx="434340" cy="434340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9484157" y="552297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E254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Knowing How to Learn</a:t>
            </a:r>
            <a:endParaRPr lang="en-US" sz="1500" dirty="0"/>
          </a:p>
        </p:txBody>
      </p:sp>
      <p:sp>
        <p:nvSpPr>
          <p:cNvPr id="41" name="Text 32"/>
          <p:cNvSpPr txBox="1"/>
          <p:nvPr/>
        </p:nvSpPr>
        <p:spPr>
          <a:xfrm>
            <a:off x="9484157" y="599846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45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reflect on and take charge of your own learning.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52A54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1097280"/>
            <a:ext cx="914400" cy="914400"/>
          </a:xfrm>
          <a:prstGeom prst="ellipse">
            <a:avLst/>
          </a:prstGeom>
          <a:solidFill>
            <a:srgbClr val="E0A458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1920240"/>
            <a:ext cx="548640" cy="548640"/>
          </a:xfrm>
          <a:prstGeom prst="ellipse">
            <a:avLst/>
          </a:prstGeom>
          <a:solidFill>
            <a:srgbClr val="E0A458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326880" y="3108960"/>
            <a:ext cx="384048" cy="384048"/>
          </a:xfrm>
          <a:prstGeom prst="ellipse">
            <a:avLst/>
          </a:prstGeom>
          <a:solidFill>
            <a:srgbClr val="E0A458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0" y="914400"/>
            <a:ext cx="310896" cy="310896"/>
          </a:xfrm>
          <a:prstGeom prst="ellipse">
            <a:avLst/>
          </a:prstGeom>
          <a:solidFill>
            <a:srgbClr val="E0A458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138160" y="2743200"/>
            <a:ext cx="457200" cy="457200"/>
          </a:xfrm>
          <a:prstGeom prst="ellipse">
            <a:avLst/>
          </a:prstGeom>
          <a:solidFill>
            <a:srgbClr val="E0A458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601200" y="4114800"/>
            <a:ext cx="1554480" cy="1554480"/>
          </a:xfrm>
          <a:prstGeom prst="ellipse">
            <a:avLst/>
          </a:prstGeom>
          <a:solidFill>
            <a:srgbClr val="5E548E">
              <a:alpha val="90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4275" y="4487875"/>
            <a:ext cx="808330" cy="80833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4008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&amp; HUMAN SERVICES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03504" y="1508760"/>
            <a:ext cx="8595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Grow the people around you.</a:t>
            </a:r>
            <a:endParaRPr lang="en-US" sz="42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20040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placements with real learners — the reflective practice behind teaching and human‑services careers.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0080" y="4709160"/>
            <a:ext cx="269748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14400" y="486460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A45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541324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3611880" y="4709160"/>
            <a:ext cx="269748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3886200" y="486460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A45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 days</a:t>
            </a:r>
            <a:endParaRPr lang="en-US" sz="2800" dirty="0"/>
          </a:p>
        </p:txBody>
      </p:sp>
      <p:sp>
        <p:nvSpPr>
          <p:cNvPr id="18" name="Text 15"/>
          <p:cNvSpPr txBox="1"/>
          <p:nvPr/>
        </p:nvSpPr>
        <p:spPr>
          <a:xfrm>
            <a:off x="3886200" y="541324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 on internship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583680" y="4709160"/>
            <a:ext cx="269748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858000" y="486460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A45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17+</a:t>
            </a:r>
            <a:endParaRPr lang="en-US" sz="28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0" y="541324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accept it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640080" y="6309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 Education Australia  ·  Learn through your interests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Education &amp; Human Services — Big Picture Learning Journey</dc:title>
  <dc:subject>PptxGenJS Presentation</dc:subject>
  <dc:creator>Big Picture Education</dc:creator>
  <cp:lastModifiedBy>Big Picture Education</cp:lastModifiedBy>
  <cp:revision>1</cp:revision>
  <dcterms:created xsi:type="dcterms:W3CDTF">2026-09-02T08:36:22Z</dcterms:created>
  <dcterms:modified xsi:type="dcterms:W3CDTF">2026-09-02T08:36:22Z</dcterms:modified>
</cp:coreProperties>
</file>